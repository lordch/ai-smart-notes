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Series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49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Biotech Venture Builder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40480" y="1645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ACCELERATING MARKET RESEARCH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0" y="20116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for Diagnostics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Venture Research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840480" y="3108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epidemiology to TAM/SAM/SOM in hours, not weeks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0" y="3749040"/>
            <a:ext cx="822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Disciplined Entrepreneurship Framework | Bill Aulet's MIT Approach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Committing to a Venture, You Need Answers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846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4864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Epidemiological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prevalence, incidence rates, demographic breakdowns, geographic distribution, trends over time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4846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10312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Landscape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diagnostics, competitor pricing, reimbursement pathways, who pays, clinical adoption patterns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4846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10896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004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Definition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populations, clinical contexts, care settings, payer segments, decision-maker mapping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114800"/>
            <a:ext cx="4846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4114800"/>
            <a:ext cx="54864" cy="8686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20624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TAM/SAM/SOM estimation with defensible assumptions and transparent methodology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1371600"/>
            <a:ext cx="3474720" cy="3017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1554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2-4 weeks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577840" y="2148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research timeline per opportunity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2651760"/>
            <a:ext cx="3108960" cy="18288"/>
          </a:xfrm>
          <a:prstGeom prst="rect">
            <a:avLst/>
          </a:prstGeom>
          <a:solidFill>
            <a:srgbClr val="3A5A7F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literature reviews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77840" y="3154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data sources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3474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interviews bottleneck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3794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methodologies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Human Works Through the Agent's Hands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"Delegated execution with retained responsibility. The human remains accountable; the agent performs actions the human has shaped."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automation. It's amplification.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206240" cy="822960"/>
          </a:xfrm>
          <a:prstGeom prst="rect">
            <a:avLst/>
          </a:prstGeom>
          <a:solidFill>
            <a:srgbClr val="2D4A73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88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 = CONTEXT CURATION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1417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high-leverage work is shaping what the agent sees, not approving what it does.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4206240" cy="1280160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103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LEVERAGE HIERARCHY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2423160"/>
            <a:ext cx="914400" cy="777240"/>
          </a:xfrm>
          <a:prstGeom prst="rect">
            <a:avLst/>
          </a:prstGeom>
          <a:solidFill>
            <a:srgbClr val="3D5A6F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2788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from bad setup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852160" y="2423160"/>
            <a:ext cx="914400" cy="777240"/>
          </a:xfrm>
          <a:prstGeom prst="rect">
            <a:avLst/>
          </a:prstGeom>
          <a:solidFill>
            <a:srgbClr val="2A5A55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52160" y="2788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bad research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58000" y="2423160"/>
            <a:ext cx="914400" cy="777240"/>
          </a:xfrm>
          <a:prstGeom prst="rect">
            <a:avLst/>
          </a:prstGeom>
          <a:solidFill>
            <a:srgbClr val="3A4A5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2788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bad plan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863840" y="2423160"/>
            <a:ext cx="914400" cy="777240"/>
          </a:xfrm>
          <a:prstGeom prst="rect">
            <a:avLst/>
          </a:prstGeom>
          <a:solidFill>
            <a:srgbClr val="35455F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63840" y="2788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bad line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3383280"/>
            <a:ext cx="4206240" cy="640080"/>
          </a:xfrm>
          <a:prstGeom prst="rect">
            <a:avLst/>
          </a:prstGeom>
          <a:solidFill>
            <a:srgbClr val="2D4A73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474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 </a:t>
            </a:r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research and plans closely. The final outputs? Trust them if the foundations are solid.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for Healthcare: Purpose-Built Connectors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DATA CONNECTORS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35M+ biomedical articles. Real-time literature reviews, citation analysis.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488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Coverage Database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coverage policies. Understand reimbursement landscape.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88036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9260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ICD-10 Classification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154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codes for patient population definition and segmentation.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03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NPI Standard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931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identification for stakeholder mapping and channels.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0515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SCIENCES CONNECTORS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32588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371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ClinicalTrials.gov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1600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400k+ trials. Competitive intelligence on pipeline diagnostics.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10312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1488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bioRxiv / medRxiv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Pre-print access. Early signal detection for emerging tech.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88036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9260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Targets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154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target database. Disease biology and biomarker opportunities.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65760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703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 Development Skill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3931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data interoperability. Build EHR integrations.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JPM26 announcement | Partners: AstraZeneca, Sanofi, Banner Health, Flatiron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Research Workflow: Human Direction, AI Execution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1417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1188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A5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DEFINES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Target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ICD-10 codes, clinical presentation, patient journey hypothesis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7432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188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0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37560" y="1234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EXECUTES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3756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Epidemiology Pull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7830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 meta-analyses, CDC/WHO data, demographic breakdowns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7432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188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0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1234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EXECUTES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6364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7830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mapping, pricing, CMS coverage, clinical adoption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743200"/>
            <a:ext cx="2743200" cy="1417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2194560" y="2834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A5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11480" y="2880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3108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Selection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429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beachhead. Validate assumptions. Refine target population.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7432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834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0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337560" y="2880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EXECUTES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37560" y="3108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TAM/SAM/SOM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429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sizing with explicit assumptions, sensitivity analysis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2743200"/>
            <a:ext cx="2743200" cy="1417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2834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A5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263640" y="2880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DECIDES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63640" y="3108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No-Go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3429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quality enables confident decision in hours, not weeks.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480560"/>
            <a:ext cx="182880" cy="182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480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judgment points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0" y="4480560"/>
            <a:ext cx="182880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34640" y="4480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execution steps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OUTPUT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Sepsis Early Detection: Research Summary in 2 Hours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54864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Epidemiology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1.7M cases/year US | 270k deaths | $62B annual cost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demographics: 65+ (3x risk), immunocompromised, post-surgical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202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6596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Solutions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16712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qSOFA scoring (free), Procalcitonin ($50-150), SIRS criteria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35000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6+ hour delay to diagnosis, 30% false negative rate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78892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3464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Beachhead Segment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03580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ICU patients in academic medical centers (300 US hospitals)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21868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maker: Chief Medical Officer | Payer: Hospital (value-based)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703320"/>
            <a:ext cx="484632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41148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4320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$840M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743200" y="41148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4048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40480" y="41148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(Y3)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394960" y="105156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10972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SYNTHESIZED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7840" y="137160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PubMed articles (2020-2025)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157276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 Sepsis Data Portal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7840" y="1773936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Coverage Decisions (LCD/NCD)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197510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ClinicalTrials.gov entries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217627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bioRxiv preprints (biomarker research)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94960" y="2606040"/>
            <a:ext cx="347472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5577840" y="2651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POINTS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77840" y="292608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segment selection rationale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77840" y="310896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Stress-tested pricing assumptions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77840" y="329184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Cross-referenced competitor claims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77840" y="347472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SOM penetration model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94960" y="3703320"/>
            <a:ext cx="347472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3794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 Proceed to Step 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77840" y="40416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supports venture. Begin primary market research to validate willingness-to-pay.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SERIES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Your Team's AI Research Capability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06040" cy="960120"/>
          </a:xfrm>
          <a:prstGeom prst="rect">
            <a:avLst/>
          </a:prstGeom>
          <a:solidFill>
            <a:srgbClr val="2D4A7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curation principles. Prompt engineering for research.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971800" y="1051560"/>
            <a:ext cx="2606040" cy="960120"/>
          </a:xfrm>
          <a:prstGeom prst="rect">
            <a:avLst/>
          </a:prstGeom>
          <a:solidFill>
            <a:srgbClr val="2D4A73"/>
          </a:solidFill>
          <a:ln/>
        </p:spPr>
      </p:sp>
      <p:sp>
        <p:nvSpPr>
          <p:cNvPr id="10" name="Text 8"/>
          <p:cNvSpPr/>
          <p:nvPr/>
        </p:nvSpPr>
        <p:spPr>
          <a:xfrm>
            <a:off x="3063240" y="11430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63240" y="1463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Epidemiology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6324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 connector mastery. Systematic reviews. Data extraction.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2606040" cy="960120"/>
          </a:xfrm>
          <a:prstGeom prst="rect">
            <a:avLst/>
          </a:prstGeom>
          <a:solidFill>
            <a:srgbClr val="2D4A7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1945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5760" y="2514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mapping. CMS coverage navigation. Clinical trial intelligence.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971800" y="2103120"/>
            <a:ext cx="2606040" cy="960120"/>
          </a:xfrm>
          <a:prstGeom prst="rect">
            <a:avLst/>
          </a:prstGeom>
          <a:solidFill>
            <a:srgbClr val="2D4A73"/>
          </a:solidFill>
          <a:ln/>
        </p:spPr>
      </p:sp>
      <p:sp>
        <p:nvSpPr>
          <p:cNvPr id="18" name="Text 16"/>
          <p:cNvSpPr/>
          <p:nvPr/>
        </p:nvSpPr>
        <p:spPr>
          <a:xfrm>
            <a:off x="3063240" y="21945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063240" y="2514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6324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TAM/SAM/SOM methodology. Assumption documentation.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3154680"/>
            <a:ext cx="2606040" cy="960120"/>
          </a:xfrm>
          <a:prstGeom prst="rect">
            <a:avLst/>
          </a:prstGeom>
          <a:solidFill>
            <a:srgbClr val="1A5A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461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65760" y="3566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Workshop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research on your actual pipeline opportunity.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971800" y="3154680"/>
            <a:ext cx="2606040" cy="960120"/>
          </a:xfrm>
          <a:prstGeom prst="rect">
            <a:avLst/>
          </a:prstGeom>
          <a:solidFill>
            <a:srgbClr val="4A3A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32461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063240" y="3566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Playbook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6324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patterns. Source validation. Repeatable templates.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43600" y="1051560"/>
            <a:ext cx="2926080" cy="3108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143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THIS SERIES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15087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timeline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2648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weeks → 2-4 hours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26480" y="21488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evaluated per quarter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2331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→ 20-30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26480" y="27889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consistency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2648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methodology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126480" y="3474720"/>
            <a:ext cx="25603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retains judgment. Claude handles execution.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module: 2-hour session + hands-on exercises + reference materials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6916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context is the supervision.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 what the agent sees,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outputs follow."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2880360"/>
            <a:ext cx="6400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3108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Claude's healthcare connectors give you direct access to the data. Your team's judgment shapes which questions matter.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Disciplined Entrepreneurship becomes faster, not looser.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4960" y="1371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0" y="169164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4960" y="16916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1737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Training Kickoff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2-week program starting with Foundations module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4960" y="256032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0" y="256032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2606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Research Project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 one live opportunity from your pipeline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94960" y="342900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3429000"/>
            <a:ext cx="54864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3474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Enablement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internal capability for ongoing research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94960" y="4297680"/>
            <a:ext cx="3474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4434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4663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discuss your first target disease area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for Diagnostics Venture Research</dc:title>
  <dc:subject>PptxGenJS Presentation</dc:subject>
  <dc:creator>Biotech Venture Builder</dc:creator>
  <cp:lastModifiedBy>Biotech Venture Builder</cp:lastModifiedBy>
  <cp:revision>1</cp:revision>
  <dcterms:created xsi:type="dcterms:W3CDTF">2026-01-13T15:19:22Z</dcterms:created>
  <dcterms:modified xsi:type="dcterms:W3CDTF">2026-01-13T15:19:22Z</dcterms:modified>
</cp:coreProperties>
</file>